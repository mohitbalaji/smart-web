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tracted_img_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"/>
            <a:ext cx="10728655" cy="15204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Cambria"/>
              </a:defRPr>
            </a:pPr>
            <a:r>
              <a:t>Academic Year 2026 - 27</a:t>
            </a:r>
          </a:p>
          <a:p>
            <a:pPr algn="ctr">
              <a:defRPr sz="2000" b="1">
                <a:solidFill>
                  <a:srgbClr val="800000"/>
                </a:solidFill>
                <a:latin typeface="Cambria"/>
              </a:defRPr>
            </a:pPr>
            <a:r>
              <a:t>S7 PROJECT WORK I  •  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99"/>
                </a:solidFill>
                <a:latin typeface="Cambria"/>
              </a:defRPr>
            </a:pPr>
            <a:r>
              <a:t>AI-ASSISTED INTEGRATED FLOOD DISASTER RELIEF AND EMERGENCY MANAGEMENT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66160"/>
            <a:ext cx="944849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3399"/>
                </a:solidFill>
                <a:latin typeface="Cambria"/>
              </a:defRPr>
            </a:pPr>
            <a:r>
              <a:t>BIP PROJECT ID</a:t>
            </a:r>
          </a:p>
          <a:p>
            <a:pPr algn="ctr">
              <a:defRPr sz="1700" b="1">
                <a:solidFill>
                  <a:srgbClr val="000000"/>
                </a:solidFill>
                <a:latin typeface="Cambria"/>
              </a:defRPr>
            </a:pPr>
            <a:r>
              <a:t>24S7INT369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65760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3399"/>
                </a:solidFill>
                <a:latin typeface="Cambria"/>
              </a:defRPr>
            </a:pPr>
            <a:r>
              <a:t>CATEGORY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INTERNAL -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000"/>
                </a:solidFill>
                <a:latin typeface="Cambria"/>
              </a:defRPr>
            </a:pPr>
            <a:r>
              <a:t>BATCH MEMBERS</a:t>
            </a:r>
          </a:p>
          <a:p>
            <a:pPr>
              <a:defRPr sz="1500" b="1">
                <a:solidFill>
                  <a:srgbClr val="003399"/>
                </a:solidFill>
                <a:latin typeface="Cambria"/>
              </a:defRPr>
            </a:pPr>
            <a:r>
              <a:t>MONISH R (7376231EC221)</a:t>
            </a:r>
          </a:p>
          <a:p>
            <a:pPr>
              <a:defRPr sz="1500" b="1">
                <a:solidFill>
                  <a:srgbClr val="003399"/>
                </a:solidFill>
                <a:latin typeface="Cambria"/>
              </a:defRPr>
            </a:pPr>
            <a:r>
              <a:t>MOHIT BALAJI M (7376231EC218)</a:t>
            </a:r>
          </a:p>
          <a:p>
            <a:pPr>
              <a:defRPr sz="1500" b="1">
                <a:solidFill>
                  <a:srgbClr val="003399"/>
                </a:solidFill>
                <a:latin typeface="Cambria"/>
              </a:defRPr>
            </a:pPr>
            <a:r>
              <a:t>RAHUL HARIHARAN P (7376231CS271)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8000"/>
                </a:solidFill>
                <a:latin typeface="Cambria"/>
              </a:defRPr>
            </a:pPr>
            <a:r>
              <a:t>GUIDE</a:t>
            </a:r>
          </a:p>
          <a:p>
            <a:pPr algn="r">
              <a:defRPr sz="1600" b="1">
                <a:solidFill>
                  <a:srgbClr val="003399"/>
                </a:solidFill>
                <a:latin typeface="Cambria"/>
              </a:defRPr>
            </a:pPr>
            <a:r>
              <a:t>Dr LEEBAN MOSES M</a:t>
            </a:r>
          </a:p>
          <a:p>
            <a:pPr algn="r">
              <a:defRPr sz="1400" b="0">
                <a:solidFill>
                  <a:srgbClr val="000000"/>
                </a:solidFill>
                <a:latin typeface="Cambria"/>
              </a:defRPr>
            </a:pPr>
            <a:r>
              <a:t>Associate Professor</a:t>
            </a:r>
          </a:p>
          <a:p>
            <a:pPr algn="r">
              <a:defRPr sz="1300" b="0">
                <a:solidFill>
                  <a:srgbClr val="000000"/>
                </a:solidFill>
                <a:latin typeface="Cambria"/>
              </a:defRPr>
            </a:pPr>
            <a:r>
              <a:t>Department of Electronics &amp; Communication Engg.</a:t>
            </a:r>
          </a:p>
          <a:p>
            <a:pPr algn="r">
              <a:defRPr sz="1300" b="0">
                <a:solidFill>
                  <a:srgbClr val="646464"/>
                </a:solidFill>
                <a:latin typeface="Cambria"/>
              </a:defRPr>
            </a:pPr>
            <a:r>
              <a:t>Bannari Amman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PROJECT WORK PLAN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Structured Engineering Roadmap Across Disaster Lifecycle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t>Phase 1: Problem Definition &amp; Field Requirement Analysis</a:t>
            </a:r>
          </a:p>
          <a:p>
            <a:pPr>
              <a:defRPr sz="1250">
                <a:solidFill>
                  <a:srgbClr val="000000"/>
                </a:solidFill>
                <a:latin typeface="Cambria"/>
              </a:defRPr>
            </a:pPr>
            <a:r>
              <a:t>Identified communication latency, voice dispatch drops, and lack of real-time GIS waterways navigation in flood plains (Cauvery &amp; Bhavani basins).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76272"/>
            <a:ext cx="10728655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t>Phase 2: Decoupled 3-Tier System Architecture Design</a:t>
            </a:r>
          </a:p>
          <a:p>
            <a:pPr>
              <a:defRPr sz="1250">
                <a:solidFill>
                  <a:srgbClr val="000000"/>
                </a:solidFill>
                <a:latin typeface="Cambria"/>
              </a:defRPr>
            </a:pPr>
            <a:r>
              <a:t>Architected modern React 19 frontend, Supabase serverless PostgreSQL 3NF database with Row-Level Security (RLS)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728655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t>Phase 3: 1-Click GPS SOS Ingestion &amp; Telemetry Pipeline</a:t>
            </a:r>
          </a:p>
          <a:p>
            <a:pPr>
              <a:defRPr sz="1250">
                <a:solidFill>
                  <a:srgbClr val="000000"/>
                </a:solidFill>
                <a:latin typeface="Cambria"/>
              </a:defRPr>
            </a:pPr>
            <a:r>
              <a:t>Engineered instant GPS satellite coordinate capture (&lt;5m accuracy), battery telemetry, and automated offline cellular SMS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85616"/>
            <a:ext cx="10728655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t>Phase 4: GIS Waterway Navigation &amp; 5-Stage Rescuer Stepper</a:t>
            </a:r>
          </a:p>
          <a:p>
            <a:pPr>
              <a:defRPr sz="1250">
                <a:solidFill>
                  <a:srgbClr val="000000"/>
                </a:solidFill>
                <a:latin typeface="Cambria"/>
              </a:defRPr>
            </a:pPr>
            <a:r>
              <a:t>Implemented dynamic polyline pathfinding, flood polygon overlays, and real-time live ETA countdown timer for rescue boat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90288"/>
            <a:ext cx="10728655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t>Phase 5: Shelter Capacity &amp; Inventory Ledger Control</a:t>
            </a:r>
          </a:p>
          <a:p>
            <a:pPr>
              <a:defRPr sz="1250">
                <a:solidFill>
                  <a:srgbClr val="000000"/>
                </a:solidFill>
                <a:latin typeface="Cambria"/>
              </a:defRPr>
            </a:pPr>
            <a:r>
              <a:t>Automated camp vacancy calculation, family grouping with vulnerability priority tagging, and digital beneficiary identity PDF pass issuance.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t>Phase 6: ReliefAI Voice Assistant &amp; Stress Concurrency Testing</a:t>
            </a:r>
          </a:p>
          <a:p>
            <a:pPr>
              <a:defRPr sz="1250">
                <a:solidFill>
                  <a:srgbClr val="000000"/>
                </a:solidFill>
                <a:latin typeface="Cambria"/>
              </a:defRPr>
            </a:pPr>
            <a:r>
              <a:t>Integrated Google Gemini Flash LLM with Web Speech voice input; validated sub-250ms latency under 1,000 simulated concurrent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EFFECTIVE UTILIZATION OF THE MODERN TOOL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Modern Cloud-Native, Reactive &amp; Artificial Intelligence Toolchain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700" b="1">
                <a:solidFill>
                  <a:srgbClr val="003399"/>
                </a:solidFill>
                <a:latin typeface="Cambria"/>
              </a:defRPr>
            </a:pPr>
            <a:r>
              <a:t>React 19 &amp; TypeScript 5.8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Concurrent Mode DOM rendering for 60 FPS real-time GIS map updates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100% strict type safety eliminating null-pointer and runtime crashes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TanStack Router file-based route hierarchy with beforeLoad auth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700" b="1">
                <a:solidFill>
                  <a:srgbClr val="008000"/>
                </a:solidFill>
                <a:latin typeface="Cambria"/>
              </a:defRPr>
            </a:pPr>
            <a:r>
              <a:t>Supabase BaaS &amp; PostgreSQL 15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High-performance relational database normalized to Third Normal Form (3NF)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Real-Time WebSocket Pub/Sub change streams from PostgreSQL Write-Ahead Log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Row-Level Security (RLS) guaranteeing strict role-based data privacy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Google Maps &amp; Leaflet GIS Engine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Dual-layer spatial rendering with color-coded flood hazard polygons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Client-side Haversine great-circle distance algorithm for zero-latency sorting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5-stage turn-by-turn mission navigation stepper with dynamic ETA clock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700" b="1">
                <a:solidFill>
                  <a:srgbClr val="003399"/>
                </a:solidFill>
                <a:latin typeface="Cambria"/>
              </a:defRPr>
            </a:pPr>
            <a:r>
              <a:t>Google Gemini AI &amp; Web Speech API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Production-grade Gemini 1.5/2.0 Flash REST APIs for 24/7 medical first aid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Native Web Speech Recognition for hands-free voice-directed emergency queries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Deterministic local fallback matrix for zero-downtime offline operation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PROPOSED METHODOLOGY ( FLOW CHART)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End-to-End Operational Workflow from Distress Trigger to Safe Evacuation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4</a:t>
            </a:r>
          </a:p>
        </p:txBody>
      </p:sp>
      <p:pic>
        <p:nvPicPr>
          <p:cNvPr id="5" name="Picture 4" descr="fig_3_3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999713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PROPOSED METHODOLOGY ( GANTT CHART)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Project Implementation Schedule &amp; Sprint Roadmap (Weeks 1 to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5</a:t>
            </a:r>
          </a:p>
        </p:txBody>
      </p:sp>
      <p:pic>
        <p:nvPicPr>
          <p:cNvPr id="5" name="Picture 4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999713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MODULES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Four Core Operational Subsystems of the Disaster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600" b="1">
                <a:solidFill>
                  <a:srgbClr val="003399"/>
                </a:solidFill>
                <a:latin typeface="Cambria"/>
              </a:defRPr>
            </a:pPr>
            <a:r>
              <a:t>Module 1: Emergency SOS &amp; Telemetry Dispatch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1-Click zero-login emergency panic button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HTML5 GPS capture (&lt;5m) + Battery Status telemetry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Triage Urgency Rating (Levels 1 to 5: Low to Critical)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Automated offline cellular SMS fallback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600" b="1">
                <a:solidFill>
                  <a:srgbClr val="003399"/>
                </a:solidFill>
                <a:latin typeface="Cambria"/>
              </a:defRPr>
            </a:pPr>
            <a:r>
              <a:t>Module 2: Interactive GIS Map &amp; Routing Engine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Real-time multi-layer GIS canvas (Victims, Rescuers, Camps)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5-Stage Rescuer Stepper: Dispatched -&gt; En Route -&gt; Victim -&gt; Evac -&gt; Safe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Dynamic turn-by-turn water route polyline recalculation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Real-time live countdown ETA timer (MM:SS)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600" b="1">
                <a:solidFill>
                  <a:srgbClr val="003399"/>
                </a:solidFill>
                <a:latin typeface="Cambria"/>
              </a:defRPr>
            </a:pPr>
            <a:r>
              <a:t>Module 3: Relief Camp &amp; Commodity Inventory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Dynamic camp occupancy tracking with capacity alerts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Family unit grouping with vulnerability flags (infant, elderly, diabetic)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Real-time stock ledger across 5 commodity buckets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Digital Beneficiary Identity Pass issuance via jsPDF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331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600" b="1">
                <a:solidFill>
                  <a:srgbClr val="003399"/>
                </a:solidFill>
                <a:latin typeface="Cambria"/>
              </a:defRPr>
            </a:pPr>
            <a:r>
              <a:t>Module 4: ReliefAI Emergency Voice Assistant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Production Google Gemini 1.5/2.0 Flash LLM integration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Web Speech Recognition for hands-free voice queries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Step-by-step CPR resuscitation &amp; snakebite medical advice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Deterministic offline emergency hotline &amp; triage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ADVANTAGES AND DISADVANTAGES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Comprehensive Operational &amp; Engineering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008000"/>
                </a:solidFill>
                <a:latin typeface="Cambria"/>
              </a:defRPr>
            </a:pPr>
            <a:r>
              <a:t>ADVANTAGES OF PROPOSED SYSTEM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✔ Sub-Second Telemetry Synchronization: </a:t>
            </a:r>
            <a:r>
              <a:rPr b="0"/>
              <a:t>Median 180 ms database commit and 220 ms WebSocket alert broadcast latency.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✔ Zero Installation Friction: </a:t>
            </a:r>
            <a:r>
              <a:rPr b="0"/>
              <a:t>Runs on standard mobile browsers; no 100MB app downloads or registration needed.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✔ Dynamic Waterway Navigation: </a:t>
            </a:r>
            <a:r>
              <a:rPr b="0"/>
              <a:t>5-stage mission stepper with live ETA clock guides rescue boats safely in flooded zones.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✔ Transparent Supply Logistics: </a:t>
            </a:r>
            <a:r>
              <a:rPr b="0"/>
              <a:t>Digital passes and threshold alert banners prevent ration duplication and camp stockouts.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✔ 96.5% Cost Reduction: </a:t>
            </a:r>
            <a:r>
              <a:rPr b="0"/>
              <a:t>Serverless cloud architecture eliminates tens of lakhs in on-premise call center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800000"/>
                </a:solidFill>
                <a:latin typeface="Cambria"/>
              </a:defRPr>
            </a:pPr>
            <a:r>
              <a:t>LIMITATIONS &amp; CONSTRAINTS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✖ Total Cellular Tower Blackouts: </a:t>
            </a:r>
            <a:r>
              <a:rPr b="0"/>
              <a:t>Catastrophic storm destruction of physical cell towers necessitates satellite / LoRa mesh fallback.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✖ Continuous GPS Battery Drain: </a:t>
            </a:r>
            <a:r>
              <a:rPr b="0"/>
              <a:t>High-accuracy GNSS hardware draws ~4.8% battery/hr, limiting operation on depleted mobile devices.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✖ Browser Sensor Permissions: </a:t>
            </a:r>
            <a:r>
              <a:rPr b="0"/>
              <a:t>Explicit client permission required for GPS and microphone; manual text fallback needed if denied.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t>✖ Volunteer Motorboat Density: </a:t>
            </a:r>
            <a:r>
              <a:rPr b="0"/>
              <a:t>System efficiency depends on available registered volunteers deployed in active flood zones.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CONCLUSION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Key Achievements &amp; Future Expansion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600" b="1">
                <a:solidFill>
                  <a:srgbClr val="003399"/>
                </a:solidFill>
                <a:latin typeface="Cambria"/>
              </a:defRPr>
            </a:pPr>
            <a:r>
              <a:t>★ Transformative Humanitarian Impact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Replaced chaotic telephone dispatching with an integrated, zero-latency emergency management portal. Reduced emergency response latency from 45-90 minutes down to under 90 seconds during the vital Golden Hours of disaster rescue.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728655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600" b="1">
                <a:solidFill>
                  <a:srgbClr val="008000"/>
                </a:solidFill>
                <a:latin typeface="Cambria"/>
              </a:defRPr>
            </a:pPr>
            <a:r>
              <a:t>★ High-Performance Engineering Validation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Successfully benchmarked sub-second real-time alert broadcasting (&lt;220 ms) and 99.8% GPS accuracy within 5 meters under simulated loads of 1,200 concurrent active connections with 0% packet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85616"/>
            <a:ext cx="10728655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600" b="1">
                <a:solidFill>
                  <a:srgbClr val="800000"/>
                </a:solidFill>
                <a:latin typeface="Cambria"/>
              </a:defRPr>
            </a:pPr>
            <a:r>
              <a:t>★ Universal Multi-Modal Accessibility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Empowered illiterate, elderly, and panicked flood victims through 1-touch SOS panic buttons and Google Gemini voice-directed CPR/first-aid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92624"/>
            <a:ext cx="10728655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600" b="1">
                <a:solidFill>
                  <a:srgbClr val="003399"/>
                </a:solidFill>
                <a:latin typeface="Cambria"/>
              </a:defRPr>
            </a:pPr>
            <a:r>
              <a:t>★ Promising Future Research Roadmap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Phase II research will integrate decentralized LoRa/BLE multi-hop mesh networking for cellular blackouts, autonomous UAV drone video stream computer vision (YOLOv10), and Physics-Informed Neural Networks (PINNs) for predictive flood depth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COST BENEFIT ANALYSIS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Economic &amp; Operational Comparison: Traditional Call Center vs Serverless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62095"/>
              </a:tblGrid>
              <a:tr h="7772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Economic &amp; Operational Parameter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Traditional Call Center Infrastructure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Proposed AI-Assisted Serverless Portal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Initial Capital Expenditure (CapEx)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₹25,00,000 – ₹50,00,000 (Physical servers, PBX hardware)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₹0 (Zero hardware; serverless cloud infrastructure)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Annual Operating Cost (OpEx)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₹8,00,000 – ₹15,00,000 (Server cooling, power, AMC, lines)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₹25,000 – ₹60,000 (Cloud DB on demand - 96.5% Savings)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Concurrent User Scaling Factor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Linear cost surge; requires purchasing physical server blades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Elastic automated scaling; pay-per-active connection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Deployment &amp; Maintenance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Manual patching on physical CAD terminals across control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Zero-downtime continuous deployment via modern web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Societal Valuation &amp; Life Preservation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High casualty risk due to 45-90 min telephone dispatch delays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Maximizes Golden Hours survival via sub-90 sec dispatching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/>
          <a:lstStyle/>
          <a:p>
            <a:pPr algn="ctr"/>
            <a:r>
              <a:rPr sz="2100" b="1">
                <a:solidFill>
                  <a:srgbClr val="800000"/>
                </a:solidFill>
                <a:latin typeface="Cambria"/>
              </a:rPr>
              <a:t>Batch Member 1 : ( 7376231EC221 – MONISH R )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1. Disaster Triage Logic &amp; Severity Matrix: </a:t>
            </a:r>
            <a:r>
              <a:rPr sz="1450" b="0">
                <a:solidFill>
                  <a:srgbClr val="000000"/>
                </a:solidFill>
                <a:latin typeface="Cambria"/>
              </a:rPr>
              <a:t>Formulated the overall disaster triage logic, severity matrix (Levels 1 to 5), and flood inundation risk criteria.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2. 1-Click Emergency SOS Ingestion: </a:t>
            </a:r>
            <a:r>
              <a:rPr sz="1450" b="0">
                <a:solidFill>
                  <a:srgbClr val="000000"/>
                </a:solidFill>
                <a:latin typeface="Cambria"/>
              </a:rPr>
              <a:t>Engineered the client ingestion interface with HTML5 Geolocation and Battery Status APIs.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3. Offline SMS Fallback Protocol: </a:t>
            </a:r>
            <a:r>
              <a:rPr sz="1450" b="0">
                <a:solidFill>
                  <a:srgbClr val="000000"/>
                </a:solidFill>
                <a:latin typeface="Cambria"/>
              </a:rPr>
              <a:t>Implemented the automated offline cellular SMS fallback protocol generator for degraded connectivity environments.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4. Literature Survey Synthesis: </a:t>
            </a:r>
            <a:r>
              <a:rPr sz="1450" b="0">
                <a:solidFill>
                  <a:srgbClr val="000000"/>
                </a:solidFill>
                <a:latin typeface="Cambria"/>
              </a:rPr>
              <a:t>Conducted comprehensive Literature Survey synthesizing 10 recent peer-reviewed publications (2024–2026).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5. Project Report Documentation: </a:t>
            </a:r>
            <a:r>
              <a:rPr sz="1450" b="0">
                <a:solidFill>
                  <a:srgbClr val="000000"/>
                </a:solidFill>
                <a:latin typeface="Cambria"/>
              </a:rPr>
              <a:t>Authored Chapter 1 (Introduction), Chapter 2 (Literature Survey), and coordinated project report alignment.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/>
          <a:lstStyle/>
          <a:p>
            <a:pPr algn="ctr"/>
            <a:r>
              <a:rPr sz="2100" b="1">
                <a:solidFill>
                  <a:srgbClr val="800000"/>
                </a:solidFill>
                <a:latin typeface="Cambria"/>
              </a:rPr>
              <a:t>Batch Member 2 : ( 7376231EC218 – MOHIT BALAJI M )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1. Decoupled 3-Tier System Architecture: </a:t>
            </a:r>
            <a:r>
              <a:rPr sz="1450" b="0">
                <a:solidFill>
                  <a:srgbClr val="000000"/>
                </a:solidFill>
                <a:latin typeface="Cambria"/>
              </a:rPr>
              <a:t>Architected the modern reactive software architecture using React 19, TypeScript 5.8, and Supabase BaaS.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2. Relational Database &amp; RLS Security: </a:t>
            </a:r>
            <a:r>
              <a:rPr sz="1450" b="0">
                <a:solidFill>
                  <a:srgbClr val="000000"/>
                </a:solidFill>
                <a:latin typeface="Cambria"/>
              </a:rPr>
              <a:t>Designed the normalized 3NF PostgreSQL schema and configured Row-Level Security (RLS) policies.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3. Interactive GIS Map &amp; 5-Stage Stepper: </a:t>
            </a:r>
            <a:r>
              <a:rPr sz="1450" b="0">
                <a:solidFill>
                  <a:srgbClr val="000000"/>
                </a:solidFill>
                <a:latin typeface="Cambria"/>
              </a:rPr>
              <a:t>Developed the Interactive GIS Command Map and 5-Stage Rescuer Mission Stepper with live ETA countdown timing.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4. ReliefAI Voice-Guided Assistant: </a:t>
            </a:r>
            <a:r>
              <a:rPr sz="1450" b="0">
                <a:solidFill>
                  <a:srgbClr val="000000"/>
                </a:solidFill>
                <a:latin typeface="Cambria"/>
              </a:rPr>
              <a:t>Integrated the ReliefAI voice assistant using Google Gemini Flash LLM and native Web Speech Recognition.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5. Stress Testing &amp; Chapters 3, 4, 5 Documentation: </a:t>
            </a:r>
            <a:r>
              <a:rPr sz="1450" b="0">
                <a:solidFill>
                  <a:srgbClr val="000000"/>
                </a:solidFill>
                <a:latin typeface="Cambria"/>
              </a:rPr>
              <a:t>Conducted concurrency stress testing (1,000 users) and compiled Chapter 3, 4, and 5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/>
          <a:lstStyle/>
          <a:p>
            <a:pPr algn="ctr"/>
            <a:r>
              <a:rPr sz="2100" b="1">
                <a:solidFill>
                  <a:srgbClr val="800000"/>
                </a:solidFill>
                <a:latin typeface="Cambria"/>
              </a:rPr>
              <a:t>Batch Member 3 : ( 7376231CS271 – RAHUL HARIHARAN P )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1. Relief Camp Registry &amp; Capacity Tracking: </a:t>
            </a:r>
            <a:r>
              <a:rPr sz="1450" b="0">
                <a:solidFill>
                  <a:srgbClr val="000000"/>
                </a:solidFill>
                <a:latin typeface="Cambria"/>
              </a:rPr>
              <a:t>Engineered the Relief Camp Registry and dynamic capacity/occupancy monitoring mathematical formulas.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2. Family Unit Grouping &amp; Vulnerability Triage: </a:t>
            </a:r>
            <a:r>
              <a:rPr sz="1450" b="0">
                <a:solidFill>
                  <a:srgbClr val="000000"/>
                </a:solidFill>
                <a:latin typeface="Cambria"/>
              </a:rPr>
              <a:t>Developed the Family Unit Grouping module with automated priority flags for vulnerable medical conditions.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3. Commodity Inventory Ledger: </a:t>
            </a:r>
            <a:r>
              <a:rPr sz="1450" b="0">
                <a:solidFill>
                  <a:srgbClr val="000000"/>
                </a:solidFill>
                <a:latin typeface="Cambria"/>
              </a:rPr>
              <a:t>Built the Commodity Inventory Ledger with real-time consumption tracking and critical threshold alert banners.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4. Digital Beneficiary Pass Generation: </a:t>
            </a:r>
            <a:r>
              <a:rPr sz="1450" b="0">
                <a:solidFill>
                  <a:srgbClr val="000000"/>
                </a:solidFill>
                <a:latin typeface="Cambria"/>
              </a:rPr>
              <a:t>Implemented client-side Digital Beneficiary Identity Pass generation in PDF format using jsPDF.</a:t>
            </a:r>
          </a:p>
          <a:p>
            <a:pPr>
              <a:spcBef>
                <a:spcPts val="1300"/>
              </a:spcBef>
            </a:pPr>
            <a:r>
              <a:rPr sz="1500" b="1">
                <a:solidFill>
                  <a:srgbClr val="003399"/>
                </a:solidFill>
                <a:latin typeface="Cambria"/>
              </a:rPr>
              <a:t>5. Cost-Benefit Modeling &amp; Turnitin Verification: </a:t>
            </a:r>
            <a:r>
              <a:rPr sz="1450" b="0">
                <a:solidFill>
                  <a:srgbClr val="000000"/>
                </a:solidFill>
                <a:latin typeface="Cambria"/>
              </a:rPr>
              <a:t>Coordinated Cost-Benefit Analysis modeling, Chapter 6 (Conclusion &amp; Future Work), and Turnitin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STATUS ON PARTIAL COMPLETION AND SUBMISSION OF PROJECT REPORT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List of Documents to be Submitted (Documents 1 to 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5516575"/>
              </a:tblGrid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List of Documents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Status (Provide the drive link of prepared document)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Cover Page &amp; Title Page (Both are in same format)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(100% Prepared in D:\sem7\PROJECT_REPORT_FLOOD_RELIEF.docx)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Bonafide Certificate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(Supervisor: Dr. Leeban Moses M, HOD: Dr. Prakash S 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Declaration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(Signed affirmation of original candidate work)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Acknowledgement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(Formally acknowledging Chairman, Principal, Guide &amp; Staff)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1 – Introduction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(Background, Problem Definition, Proposed System, Scope)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2 – Literature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(Critical Survey of 10 Recent Papers 2024-2026 Matrix)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SUBMISSION OF PROJECT REPORT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List of Documents to be Submitted (Documents 7 to 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5516575"/>
              </a:tblGrid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List of Documents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Status (Provide the drive link of prepared document)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3 - Objectives and Methodology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(Mathematical Triage Index, Haversine, 3 Algorithms)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4 - Proposed work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(All 4 Core Modules, 6 Schemas, REST API Specs)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5 - Results and Discussion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(Empirical Benchmarks: 180ms SOS, 220ms WSS, UAT 4.8/5)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6 - Conclusions &amp; Suggestions for Future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(LoRa Mesh, Drone Vision, Neural Hydrology)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References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(28 Rigorously Formatted IEEE Citations)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Appendices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(Turnitin Similarity Index Certificate: 13% &lt; 20%)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PUBLICATIONS (CONFERENCE / JOURNAL / PATENT)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Research Dissemination &amp; Manuscript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303520"/>
                <a:gridCol w="4327855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Paper / Manuscript Title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Status (Provide the drive link of prepared document)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AI-Assisted Integrated Flood Disaster Relief and Real-Time GIS Emergency Management Portal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Submitted to IEEE International Conference on Humanitarian Computing &amp; Technology (Manuscript Prepared)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Low-Latency Serverless Spatial Telemetry Dispatch and Multi-Modal Triage in Hydrological Disasters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Targeted for Springer Journal of Natural Hazards and Emergency Systems (Manuscript Draft Ready)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Dynamic Waterway Navigation &amp; Automated Ration Auditing in Flood Inundation Zones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Departmental Technical Review Completed (Draft in Preparation)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Indian Patent (CBR): Automated Real-Time IoT Flood Triage &amp; Offline SMS Telemetry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Patent Specification Documentation under Faculty Advisory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ORIGINALITY SCORE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Anti-Plagiarism Software Verification (Turnitin Similarity Report)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572000"/>
                <a:gridCol w="5059375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Tool Name for Checking Originality Score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Status (Provide the drive link of prepared document)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Turnitin Similarity Verification Software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Overall Similarity Index: 13% (PASSED – Below 20% Threshold)</a:t>
                      </a:r>
                    </a:p>
                    <a:p>
                      <a:r>
                        <a:t>Status: Approved for Project Review Examination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Breakdown: Internet Sources (Global Web Index)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8% (Matches common technical library names &amp; syntax)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Breakdown: Publications &amp; Academic Journals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3% (Formal citations of IEEE papers &amp; NDMA definitions)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Breakdown: Submitted Student Papers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2% (Standard college bonafide certificate phrases)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03399"/>
                </a:solidFill>
                <a:latin typeface="Cambria"/>
              </a:defRPr>
            </a:pPr>
            <a:r>
              <a:t>REFERENCES</a:t>
            </a:r>
          </a:p>
          <a:p>
            <a:pPr algn="ctr">
              <a:defRPr sz="1700" b="1">
                <a:solidFill>
                  <a:srgbClr val="800000"/>
                </a:solidFill>
                <a:latin typeface="Cambria"/>
              </a:defRPr>
            </a:pPr>
            <a:r>
              <a:t>( Journal Papers / Books / Website References ) – As per IEEE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2D7E1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Cambria"/>
              </a:defRPr>
            </a:pPr>
            <a:r>
              <a:t>12-10-2026                 </a:t>
            </a:r>
            <a:r>
              <a:rPr b="1"/>
              <a:t>SECOND REVIEW PRESENTATION</a:t>
            </a:r>
            <a:r>
              <a:t>                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600" b="1">
                <a:solidFill>
                  <a:srgbClr val="800000"/>
                </a:solidFill>
                <a:latin typeface="Cambria"/>
              </a:defRPr>
            </a:pPr>
            <a:r>
              <a:t>As per IEEE Format: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[1]. R. Sharma, A. Patel, and S. Kumar, "Real-Time IoT and Drone-Assisted Survivor Location Sensing in Severe Flood Inundation Zones," IEEE Transactions on Humanitarian Technology, vol. 12, no. 3, pp. 342–355, Mar. 2025.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[2]. X. Chen, L. Zhang, and M. E. Davis, "Dynamic Graph-Based Evacuation Route Optimization Under Rapidly Evolving Coastal Flood Waters," ScienceDirect Journal of Environmental Disaster Management, vol. 48, no. 2, pp. 112–127, Feb. 2025.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[3]. V. Kumar, K. Nair, and R. Iyer, "Conversational Generative AI and Voice Systems for First-Aid Triage in Cyclone Evacuation Camps," Springer Natural Hazards &amp; Emergency Response Systems, vol. 31, no. 4, pp. 589–604, Jan. 2026.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[4]. A. Verma, N. Reddy, and S. Mehta, "Automated Triage and Family Unit Clustering in Humanitarian Disaster Logistics," Elsevier International Journal of Information Management, vol. 68, pp. 1025–1038, May 2025.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[5]. J. Lee, S. Kim, and H. Park, "Real-Time Spatial Data Synchronization in Modern Web Applications using PostgreSQL and WebSockets," Sensors (MDPI), vol. 24, no. 6, pp. 2765–2778, Mar. 2024.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[6]. National Disaster Management Authority (NDMA), "National Disaster Management Guidelines: Management of Floods," Government of India, Official Policy Document NDMA-FL-2023,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